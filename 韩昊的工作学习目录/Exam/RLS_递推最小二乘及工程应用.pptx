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375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BFD6E8"/>
                </a:solidFill>
                <a:latin typeface="微软雅黑"/>
                <a:ea typeface="微软雅黑"/>
                <a:cs typeface="微软雅黑"/>
              </a:rPr>
              <a:t>从自适应滤波到大模型增量微调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160520"/>
            <a:ext cx="2011680" cy="4572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4348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FD6E8"/>
                </a:solidFill>
                <a:latin typeface="微软雅黑"/>
                <a:ea typeface="微软雅黑"/>
                <a:cs typeface="微软雅黑"/>
              </a:rPr>
              <a:t>讲解人: 韩佳欣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1078992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1" i="0">
                <a:solidFill>
                  <a:srgbClr val="E87A2B"/>
                </a:solidFill>
                <a:latin typeface="Arial"/>
                <a:ea typeface="Arial"/>
                <a:cs typeface="Arial"/>
              </a:rPr>
              <a:t>01   </a:t>
            </a:r>
            <a:r>
              <a:rPr sz="19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RLS 解决什么问题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1" i="0">
                <a:solidFill>
                  <a:srgbClr val="E87A2B"/>
                </a:solidFill>
                <a:latin typeface="Arial"/>
                <a:ea typeface="Arial"/>
                <a:cs typeface="Arial"/>
              </a:rPr>
              <a:t>02   </a:t>
            </a:r>
            <a:r>
              <a:rPr sz="19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数学推导：从最小二乘到递推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1" i="0">
                <a:solidFill>
                  <a:srgbClr val="E87A2B"/>
                </a:solidFill>
                <a:latin typeface="Arial"/>
                <a:ea typeface="Arial"/>
                <a:cs typeface="Arial"/>
              </a:rPr>
              <a:t>03   </a:t>
            </a:r>
            <a:r>
              <a:rPr sz="19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算法流程、初始化与一维算例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1" i="0">
                <a:solidFill>
                  <a:srgbClr val="E87A2B"/>
                </a:solidFill>
                <a:latin typeface="Arial"/>
                <a:ea typeface="Arial"/>
                <a:cs typeface="Arial"/>
              </a:rPr>
              <a:t>04   </a:t>
            </a:r>
            <a:r>
              <a:rPr sz="19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注意事项：激励、遗忘因子、数值稳定性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1" i="0">
                <a:solidFill>
                  <a:srgbClr val="E87A2B"/>
                </a:solidFill>
                <a:latin typeface="Arial"/>
                <a:ea typeface="Arial"/>
                <a:cs typeface="Arial"/>
              </a:rPr>
              <a:t>05   </a:t>
            </a:r>
            <a:r>
              <a:rPr sz="19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工程应用：滤波 / 通信 / 辨识 / 控制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1" i="0">
                <a:solidFill>
                  <a:srgbClr val="E87A2B"/>
                </a:solidFill>
                <a:latin typeface="Arial"/>
                <a:ea typeface="Arial"/>
                <a:cs typeface="Arial"/>
              </a:rPr>
              <a:t>06   </a:t>
            </a:r>
            <a:r>
              <a:rPr sz="19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大模型增量微调中的 RLS 路由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1" i="0">
                <a:solidFill>
                  <a:srgbClr val="E87A2B"/>
                </a:solidFill>
                <a:latin typeface="Arial"/>
                <a:ea typeface="Arial"/>
                <a:cs typeface="Arial"/>
              </a:rPr>
              <a:t>07   </a:t>
            </a:r>
            <a:r>
              <a:rPr sz="19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Python 代码示例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1" i="0">
                <a:solidFill>
                  <a:srgbClr val="E87A2B"/>
                </a:solidFill>
                <a:latin typeface="Arial"/>
                <a:ea typeface="Arial"/>
                <a:cs typeface="Arial"/>
              </a:rPr>
              <a:t>08   </a:t>
            </a:r>
            <a:r>
              <a:rPr sz="19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总结与核心公式速查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1" i="0">
                <a:solidFill>
                  <a:srgbClr val="E87A2B"/>
                </a:solidFill>
                <a:latin typeface="Arial"/>
                <a:ea typeface="Arial"/>
                <a:cs typeface="Arial"/>
              </a:rPr>
              <a:t>09   </a:t>
            </a:r>
            <a:r>
              <a:rPr sz="19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附录：矩阵求逆引理证明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9659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200" b="1">
                <a:solidFill>
                  <a:srgbClr val="E87A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2487168"/>
            <a:ext cx="50292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2487168"/>
            <a:ext cx="7863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RLS 解决什么问题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493008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BFD6E8"/>
                </a:solidFill>
                <a:latin typeface="微软雅黑"/>
                <a:ea typeface="微软雅黑"/>
                <a:cs typeface="微软雅黑"/>
              </a:rPr>
              <a:t>Recursive Least Squares  ·  递推最小二乘法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1.1  RLS 的目标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在每个时刻 </a:t>
            </a:r>
            <a:r>
              <a:rPr sz="1900" b="0" i="1">
                <a:solidFill>
                  <a:srgbClr val="2E86AB"/>
                </a:solidFill>
                <a:latin typeface="Cambria Math"/>
                <a:ea typeface="Cambria Math"/>
                <a:cs typeface="Cambria Math"/>
              </a:rPr>
              <a:t>n</a:t>
            </a:r>
            <a:r>
              <a:rPr sz="19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，寻找滤波器系数 </a:t>
            </a:r>
            <a:r>
              <a:rPr sz="1900" b="0" i="1">
                <a:solidFill>
                  <a:srgbClr val="2E86AB"/>
                </a:solidFill>
                <a:latin typeface="Cambria Math"/>
                <a:ea typeface="Cambria Math"/>
                <a:cs typeface="Cambria Math"/>
              </a:rPr>
              <a:t>w(n)</a:t>
            </a:r>
            <a:r>
              <a:rPr sz="19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，使从初始时刻到当前时刻的</a:t>
            </a:r>
            <a:r>
              <a:rPr sz="1900" b="1" i="0">
                <a:solidFill>
                  <a:srgbClr val="E87A2B"/>
                </a:solidFill>
                <a:latin typeface="微软雅黑"/>
                <a:ea typeface="微软雅黑"/>
                <a:cs typeface="微软雅黑"/>
              </a:rPr>
              <a:t>加权误差平方和最小</a:t>
            </a:r>
            <a:r>
              <a:rPr sz="19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103120"/>
            <a:ext cx="10789920" cy="1656207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1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e(n) = d(n) − y(n)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1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y(n) = xᵀ(n)·w(n)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1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e(n) = d(n) − xᵀ(n)·w(n)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887343"/>
            <a:ext cx="107899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 i="1">
                <a:solidFill>
                  <a:srgbClr val="2E86AB"/>
                </a:solidFill>
                <a:latin typeface="Cambria Math"/>
                <a:ea typeface="Cambria Math"/>
                <a:cs typeface="Cambria Math"/>
              </a:rPr>
              <a:t>d(n)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  期望信号（目标输出）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 i="1">
                <a:solidFill>
                  <a:srgbClr val="2E86AB"/>
                </a:solidFill>
                <a:latin typeface="Cambria Math"/>
                <a:ea typeface="Cambria Math"/>
                <a:cs typeface="Cambria Math"/>
              </a:rPr>
              <a:t>x(n)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  输入向量 / 回归向量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 i="1">
                <a:solidFill>
                  <a:srgbClr val="2E86AB"/>
                </a:solidFill>
                <a:latin typeface="Cambria Math"/>
                <a:ea typeface="Cambria Math"/>
                <a:cs typeface="Cambria Math"/>
              </a:rPr>
              <a:t>w(n)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  滤波器系数（待估参数）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 i="1">
                <a:solidFill>
                  <a:srgbClr val="2E86AB"/>
                </a:solidFill>
                <a:latin typeface="Cambria Math"/>
                <a:ea typeface="Cambria Math"/>
                <a:cs typeface="Cambria Math"/>
              </a:rPr>
              <a:t>y(n)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  滤波器输出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1.2  目标函数与遗忘因子 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98448"/>
            <a:ext cx="10789920" cy="74498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2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J(n) = Σᵢ₌₁ⁿ λⁿ⁻ⁱ · [ d(i) − xᵀ(i)·w(n) ]²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8878"/>
            <a:ext cx="107899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遗忘因子 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0 &lt; λ ≤ 1，对过去数据指数加权，越旧权重越小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λ = 1：所有历史数据等权，适合平稳系统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0 &lt; λ &lt; 1：指数遗忘旧数据，适合非平稳 / 时变系统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常用范围：0.95 ~ 0.999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393438"/>
            <a:ext cx="10789920" cy="656082"/>
          </a:xfrm>
          <a:prstGeom prst="roundRect">
            <a:avLst>
              <a:gd name="adj" fmla="val 6000"/>
            </a:avLst>
          </a:prstGeom>
          <a:solidFill>
            <a:srgbClr val="FC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8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N_eff ≈ 1 / (1 − λ)        例：λ = 0.99 → 有效记忆 ≈ 100 个样本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9659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200" b="1">
                <a:solidFill>
                  <a:srgbClr val="E87A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2487168"/>
            <a:ext cx="50292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2487168"/>
            <a:ext cx="7863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数学推导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493008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BFD6E8"/>
                </a:solidFill>
                <a:latin typeface="微软雅黑"/>
                <a:ea typeface="微软雅黑"/>
                <a:cs typeface="微软雅黑"/>
              </a:rPr>
              <a:t>从加权最小二乘到递推更新  ·  矩阵求逆引理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2.1  加权最小二乘与正规方程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344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对 J(n) 关于 w(n) 求导并令其为零：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91640"/>
            <a:ext cx="10789920" cy="65608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8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∂J(n)/∂w(n) = −2 Σᵢ₌₁ⁿ λⁿ⁻ⁱ x(i) [ d(i) − xᵀ(i) w(n) ]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7573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整理得到正规方程：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932938"/>
            <a:ext cx="10789920" cy="678307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9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( Σᵢ₌₁ⁿ λⁿ⁻ⁱ x(i) xᵀ(i) ) · w(n)  =  Σᵢ₌₁ⁿ λⁿ⁻ⁱ x(i) d(i)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2.2  定义 R(n)、p(n)、P(n)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80160"/>
            <a:ext cx="10789920" cy="110058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9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R(n) = Σᵢ₌₁ⁿ λⁿ⁻ⁱ x(i) xᵀ(i)        （加权自相关矩阵）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9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p(n) = Σᵢ₌₁ⁿ λⁿ⁻ⁱ x(i) d(i)          （加权互相关向量）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0875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正规方程：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947670"/>
            <a:ext cx="10789920" cy="70053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R(n)·w(n) = p(n)    ⟹    w(n) = R⁻¹(n)·p(n)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803650"/>
            <a:ext cx="107899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定义  P(n) = R⁻¹(n)：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P(n) 可理解为参数估计的协方差矩阵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表示当前参数的不确定性大小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P(n) 越大 → 不确定性越大 → 增益越大 → 修正越猛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2.3  递推关系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34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加入新数据 x(n), d(n) 后：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91640"/>
            <a:ext cx="10789920" cy="118948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1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R(n) = λ·R(n−1) + x(n)·xᵀ(n)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1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p(n) = λ·p(n−1) + x(n)·d(n)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036570"/>
            <a:ext cx="107899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87A2B"/>
                </a:solidFill>
                <a:latin typeface="微软雅黑"/>
                <a:ea typeface="微软雅黑"/>
                <a:cs typeface="微软雅黑"/>
              </a:rPr>
              <a:t>问题：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直接对 R(n) 求逆，每次都是 O(N³)，计算量太大。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87A2B"/>
                </a:solidFill>
                <a:latin typeface="微软雅黑"/>
                <a:ea typeface="微软雅黑"/>
                <a:cs typeface="微软雅黑"/>
              </a:rPr>
              <a:t>解决：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用矩阵求逆引理，从 P(n−1) 直接递推 P(n)，降到 O(N²)。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2.4  矩阵求逆引理 (A + BCD)⁻¹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98448"/>
            <a:ext cx="10789920" cy="70053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(A + BCD)⁻¹  =  A⁻¹ − A⁻¹B (C⁻¹ + DA⁻¹B)⁻¹ DA⁻¹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54427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在 RLS 中取：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611627"/>
            <a:ext cx="10789920" cy="110058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9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A = λ·R(n−1)      B = x(n)      C = 1      D = xᵀ(n)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9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A⁻¹ = (1/λ)·P(n−1)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867657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代入引理并整理，即可得到 RLS 的协方差矩阵递推公式。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2.5  协方差矩阵递推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98448"/>
            <a:ext cx="10789920" cy="633857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7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P(n) = (1/λ) [ P(n−1) − P(n−1)x(n)xᵀ(n)P(n−1) / (λ + xᵀ(n)P(n−1)x(n))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87752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定义增益向量：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499233"/>
            <a:ext cx="10789920" cy="700532"/>
          </a:xfrm>
          <a:prstGeom prst="roundRect">
            <a:avLst>
              <a:gd name="adj" fmla="val 6000"/>
            </a:avLst>
          </a:prstGeom>
          <a:solidFill>
            <a:srgbClr val="FC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k(n) = P(n−1)x(n) / ( λ + xᵀ(n)P(n−1)x(n)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327781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则协方差更新可简写为：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766693"/>
            <a:ext cx="10789920" cy="70053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P(n) = (1/λ) [ P(n−1) − k(n)·xᵀ(n)·P(n−1)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2.6  参数更新与新息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34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先计算先验误差（也称新息，innovation）：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91640"/>
            <a:ext cx="10789920" cy="74498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2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α(n) = d(n) − xᵀ(n)·w(n−1)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56463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然后更新滤波器系数：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021838"/>
            <a:ext cx="10789920" cy="744982"/>
          </a:xfrm>
          <a:prstGeom prst="roundRect">
            <a:avLst>
              <a:gd name="adj" fmla="val 6000"/>
            </a:avLst>
          </a:prstGeom>
          <a:solidFill>
            <a:srgbClr val="FC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2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w(n) = w(n−1) + k(n)·α(n)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922268"/>
            <a:ext cx="107899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核心直觉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新息 α(n)：当前模型对本次样本的预测误差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增益 k(n)：由参数不确定性决定修正幅度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协方差 P(n)：在线更新参数不确定性，随数据增多而下降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2.7  算法流程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0700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对每个时刻 n = 1, 2, … 依次执行：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91640"/>
            <a:ext cx="10789920" cy="167843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①  α(n) = d(n) − xᵀ(n)·w(n−1)                        （先验误差）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②  k(n) = P(n−1)x(n) / ( λ + xᵀ(n)P(n−1)x(n) )       （增益向量）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③  w(n) = w(n−1) + k(n)·α(n)                         （参数更新）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④  P(n) = (1/λ)[ P(n−1) − k(n)xᵀ(n)P(n−1) ]          （协方差更新）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498088"/>
            <a:ext cx="10789920" cy="633857"/>
          </a:xfrm>
          <a:prstGeom prst="roundRect">
            <a:avLst>
              <a:gd name="adj" fmla="val 6000"/>
            </a:avLst>
          </a:prstGeom>
          <a:solidFill>
            <a:srgbClr val="FC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7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⑤  工程中强制对称：P(n) ← [ P(n) + Pᵀ(n) ] /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2.8  初始化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25880"/>
            <a:ext cx="10789920" cy="767207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3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w(0) = 0            P(0) = δ·I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48535"/>
            <a:ext cx="107899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E87A2B"/>
                </a:solidFill>
                <a:latin typeface="微软雅黑"/>
                <a:ea typeface="微软雅黑"/>
                <a:cs typeface="微软雅黑"/>
              </a:rPr>
              <a:t>δ 常取 10² ~ 10⁶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δ 大：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初始不确定性大，初始增益大，收敛快，但可能震荡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δ 小：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初始更新慢，收敛平稳，但前期跟踪能力弱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87A2B"/>
                </a:solidFill>
                <a:latin typeface="微软雅黑"/>
                <a:ea typeface="微软雅黑"/>
                <a:cs typeface="微软雅黑"/>
              </a:rPr>
              <a:t>工程提示：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若已知参数大致范围，可用 w(0) 给出更好的起点。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9659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200" b="1">
                <a:solidFill>
                  <a:srgbClr val="E87A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2487168"/>
            <a:ext cx="50292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2487168"/>
            <a:ext cx="7863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算法流程与一维算例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493008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BFD6E8"/>
                </a:solidFill>
                <a:latin typeface="微软雅黑"/>
                <a:ea typeface="微软雅黑"/>
                <a:cs typeface="微软雅黑"/>
              </a:rPr>
              <a:t>用最简单的一维参数估计理解 RLS 的每一步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  一维算例设定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7043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设定：λ = 0.9，w(0) = 0，P(0) = 1，真实参数 w = 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664208"/>
          <a:ext cx="49377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</a:t>
                      </a:r>
                    </a:p>
                  </a:txBody>
                  <a:tcPr marL="91440" marR="9144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x(n)</a:t>
                      </a:r>
                    </a:p>
                  </a:txBody>
                  <a:tcPr marL="91440" marR="9144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d(n)</a:t>
                      </a:r>
                    </a:p>
                  </a:txBody>
                  <a:tcPr marL="91440" marR="91440" marT="18288" marB="18288" anchor="ctr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89320" y="1664208"/>
            <a:ext cx="5513832" cy="158953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α(n) = d(n) − x(n)·w(n−1)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k(n) = P(n−1)x(n) / ( λ + x²(n)P(n−1) )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w(n) = w(n−1) + k(n)·α(n)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P(n) = (1/λ)[ P(n−1) − k(n)x(n)P(n−1)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3.2  一维算例：n =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10789920" cy="2122931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1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α(1) = 2 − 1 × 0 = 2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1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k(1) = (1 × 1) / (0.9 + 1² × 1) = 1 / 1.9 ≈ 0.5263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1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w(1) = 0 + 0.5263 × 2 ≈ 1.0526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1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P(1) = (1/0.9)[ 1 − 0.5263 × 1 × 1 ] ≈ 0.5263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3.3  一维算例：n =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10789920" cy="2122931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1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α(2) = 4 − 2 × 1.0526 ≈ 1.8948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1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k(2) = (0.5263 × 2) / (0.9 + 2² × 0.5263) ≈ 0.3503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1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w(2) = 1.0526 + 0.3503 × 1.8948 ≈ 1.7163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1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P(2) = (1/0.9)[ 0.5263 − 0.3503 × 2 × 0.5263 ] ≈ 0.1751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3.4  一维算例：n =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10789920" cy="2122931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1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α(3) = 6 − 3 × 1.7163 ≈ 0.8511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1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k(3) = (0.1751 × 3) / (0.9 + 3² × 0.1751) ≈ 0.2122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1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w(3) = 1.7163 + 0.2122 × 0.8511 ≈ 1.8969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1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P(3) = (1/0.9)[ 0.1751 − 0.2122 × 3 × 0.1751 ] ≈ 0.0707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3.5  结果对比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508760"/>
          <a:ext cx="10058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</a:t>
                      </a:r>
                    </a:p>
                  </a:txBody>
                  <a:tcPr marL="91440" marR="9144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估计值 w(n)</a:t>
                      </a:r>
                    </a:p>
                  </a:txBody>
                  <a:tcPr marL="91440" marR="9144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真实值</a:t>
                      </a:r>
                    </a:p>
                  </a:txBody>
                  <a:tcPr marL="91440" marR="9144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误差 |w(n) − 2|</a:t>
                      </a:r>
                    </a:p>
                  </a:txBody>
                  <a:tcPr marL="91440" marR="91440" marT="18288" marB="18288" anchor="ctr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2.0000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1.0526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0.9474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1.7163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0.2837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1.8969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0.1031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" y="3977639"/>
            <a:ext cx="107899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估计值逐渐逼近真实值 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协方差 P(n) 从 1 → 0.0707 逐渐减小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参数不确定性随数据积累而下降，修正幅度随之变小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9659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200" b="1">
                <a:solidFill>
                  <a:srgbClr val="E87A2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2487168"/>
            <a:ext cx="50292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2487168"/>
            <a:ext cx="7863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注意事项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493008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BFD6E8"/>
                </a:solidFill>
                <a:latin typeface="微软雅黑"/>
                <a:ea typeface="微软雅黑"/>
                <a:cs typeface="微软雅黑"/>
              </a:rPr>
              <a:t>持续激励 · 遗忘因子 · 初值 · 数值稳定性 · 复杂度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4.1  持续激励与遗忘因子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07008"/>
            <a:ext cx="107899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持续激励条件（Persistent Excitation）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输入向量 x(n) 必须满足持续激励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否则 R(n) 可能奇异，参数不可辨识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估计值可能发散，P(n) 失去正定性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46120"/>
            <a:ext cx="107899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遗忘因子 λ 的选择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2E86AB"/>
                </a:solidFill>
                <a:latin typeface="微软雅黑"/>
                <a:ea typeface="微软雅黑"/>
                <a:cs typeface="微软雅黑"/>
              </a:rPr>
              <a:t>λ = 1：</a:t>
            </a: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适合平稳系统，跟踪时变参数能力弱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2E86AB"/>
                </a:solidFill>
                <a:latin typeface="微软雅黑"/>
                <a:ea typeface="微软雅黑"/>
                <a:cs typeface="微软雅黑"/>
              </a:rPr>
              <a:t>0 &lt; λ &lt; 1：</a:t>
            </a: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指数遗忘旧数据，适合非平稳 / 时变系统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2E86AB"/>
                </a:solidFill>
                <a:latin typeface="微软雅黑"/>
                <a:ea typeface="微软雅黑"/>
                <a:cs typeface="微软雅黑"/>
              </a:rPr>
              <a:t>λ 越小：</a:t>
            </a: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跟踪越快，但噪声敏感、参数抖动大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2E86AB"/>
                </a:solidFill>
                <a:latin typeface="微软雅黑"/>
                <a:ea typeface="微软雅黑"/>
                <a:cs typeface="微软雅黑"/>
              </a:rPr>
              <a:t>λ 越大：</a:t>
            </a: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平滑越好，但跟踪越慢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i="0">
                <a:solidFill>
                  <a:srgbClr val="E87A2B"/>
                </a:solidFill>
                <a:latin typeface="微软雅黑"/>
                <a:ea typeface="微软雅黑"/>
                <a:cs typeface="微软雅黑"/>
              </a:rPr>
              <a:t>常用范围：0.95 ~ 0.999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4.2  初值与数值稳定性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07008"/>
            <a:ext cx="107899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初值选择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w(0) 和 P(0) 影响收敛速度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P(0) = δI，δ 过大 → 初始震荡；δ 过小 → 初始收敛慢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80360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数值稳定性问题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P(n) 失去对称性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P(n) 失去正定性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数值误差累积导致发散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709160"/>
            <a:ext cx="107899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E87A2B"/>
                </a:solidFill>
                <a:latin typeface="微软雅黑"/>
                <a:ea typeface="微软雅黑"/>
                <a:cs typeface="微软雅黑"/>
              </a:rPr>
              <a:t>工程处理手段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强制对称：P ← (P + Pᵀ)/2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正则化 / 加 jitter（对角线加载）：P ← P + δI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UD 分解 RLS：P = UDUᵀ，只更新 U、D，结构上保证正定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QR-RLS、平方根 RLS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不要随意 inv，用 solve / lstsq / Cholesky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4.3  计算复杂度与算法关系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07008"/>
            <a:ext cx="107899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计算复杂度（滤波器长度 N）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每次更新计算复杂度：O(N²)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存储复杂度：O(N²)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788920"/>
            <a:ext cx="107899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与 LMS 相比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RLS 收敛更快、精度更高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RLS 计算量更大（LMS 为 O(N)）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251960"/>
            <a:ext cx="107899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与 Kalman 滤波相比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RLS 可看作参数为常数时的 Kalman 滤波特例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遗忘因子 λ 可理解为引入过程噪声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使算法具备跟踪时变参数的能力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9659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200" b="1">
                <a:solidFill>
                  <a:srgbClr val="E87A2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2487168"/>
            <a:ext cx="50292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2487168"/>
            <a:ext cx="7863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工程应用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493008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BFD6E8"/>
                </a:solidFill>
                <a:latin typeface="微软雅黑"/>
                <a:ea typeface="微软雅黑"/>
                <a:cs typeface="微软雅黑"/>
              </a:rPr>
              <a:t>自适应滤波 · 通信 · 系统辨识 · 自适应控制 · 信号处理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5.1  典型应用领域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34440"/>
            <a:ext cx="525780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E86AB"/>
                </a:solidFill>
                <a:latin typeface="微软雅黑"/>
                <a:ea typeface="微软雅黑"/>
                <a:cs typeface="微软雅黑"/>
              </a:rPr>
              <a:t>① 自适应滤波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回声消除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自适应噪声抵消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线性预测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E86AB"/>
                </a:solidFill>
                <a:latin typeface="微软雅黑"/>
                <a:ea typeface="微软雅黑"/>
                <a:cs typeface="微软雅黑"/>
              </a:rPr>
              <a:t>② 通信系统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信道估计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信道均衡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接收机自适应处理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E86AB"/>
                </a:solidFill>
                <a:latin typeface="微软雅黑"/>
                <a:ea typeface="微软雅黑"/>
                <a:cs typeface="微软雅黑"/>
              </a:rPr>
              <a:t>③ 系统辨识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ARX / ARMAX 模型在线辨识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机械、化工、电力系统参数监测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34440"/>
            <a:ext cx="521208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E86AB"/>
                </a:solidFill>
                <a:latin typeface="微软雅黑"/>
                <a:ea typeface="微软雅黑"/>
                <a:cs typeface="微软雅黑"/>
              </a:rPr>
              <a:t>④ 自适应控制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自校正调节器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模型参考自适应控制中的参数估计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E86AB"/>
                </a:solidFill>
                <a:latin typeface="微软雅黑"/>
                <a:ea typeface="微软雅黑"/>
                <a:cs typeface="微软雅黑"/>
              </a:rPr>
              <a:t>⑤ 信号处理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时变 AR 模型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谱估计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传感器校准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87A2B"/>
                </a:solidFill>
                <a:latin typeface="微软雅黑"/>
                <a:ea typeface="微软雅黑"/>
                <a:cs typeface="微软雅黑"/>
              </a:rPr>
              <a:t>⑥ 大模型增量微调中的路由选择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用 RLS 训练路由器，为每个任务选择独立 LoRA 子空间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免回放旧数据，理论零遗忘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典型方案：Any-SSR、RLSEdit、KRLS-Attn、ATS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5.2  工程实践建议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8992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①  输入输出先归一化、去均值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②  时变快时选较小 λ；时变慢或平稳时选较大 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③  高精度场景使用 QR-RLS 或 UD-RLS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④  监控 P(n) 的条件数，异常时重置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⑤  不要随意求逆，用 solve / lstsq / Cholesky 分解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⑥  高维场景先降维，或用对角 / 低秩 RLS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⑦  P 强制对称，加 jitter 防奇异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9659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200" b="1">
                <a:solidFill>
                  <a:srgbClr val="E87A2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2487168"/>
            <a:ext cx="50292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2487168"/>
            <a:ext cx="7863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大模型增量微调中的 RLS 路由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493008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BFD6E8"/>
                </a:solidFill>
                <a:latin typeface="微软雅黑"/>
                <a:ea typeface="微软雅黑"/>
                <a:cs typeface="微软雅黑"/>
              </a:rPr>
              <a:t>灾难性遗忘 · LoRA 子空间隔离 · 免回放路由器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6.1  问题：灾难性遗忘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71600"/>
            <a:ext cx="10789920" cy="678307"/>
          </a:xfrm>
          <a:prstGeom prst="roundRect">
            <a:avLst>
              <a:gd name="adj" fmla="val 6000"/>
            </a:avLst>
          </a:prstGeom>
          <a:solidFill>
            <a:srgbClr val="FC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9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顺序微调多个任务 ⟹ 新任务梯度覆盖旧任务最优参数 ⟹ 旧任务性能骤降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31720"/>
            <a:ext cx="107899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专业描述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顺序微调多个任务时，参数被新任务主导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旧任务的最优解被覆盖，性能不可逆下降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回放旧数据代价高，甚至不可得（隐私 / 存储）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434840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E87A2B"/>
                </a:solidFill>
                <a:latin typeface="微软雅黑"/>
                <a:ea typeface="微软雅黑"/>
                <a:cs typeface="微软雅黑"/>
              </a:rPr>
              <a:t>通俗理解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像狗熊掰棒子，掰一个丢一个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像多人共用笔记本，新内容擦掉旧内容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6.2  思路：隔离 + RLS 路由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34440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86AB"/>
                </a:solidFill>
                <a:latin typeface="微软雅黑"/>
                <a:ea typeface="微软雅黑"/>
                <a:cs typeface="微软雅黑"/>
              </a:rPr>
              <a:t>隔离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每个任务独立 LoRA 子空间，互不干扰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底层共享特征，上层任务专用参数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971800"/>
            <a:ext cx="107899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86AB"/>
                </a:solidFill>
                <a:latin typeface="微软雅黑"/>
                <a:ea typeface="微软雅黑"/>
                <a:cs typeface="微软雅黑"/>
              </a:rPr>
              <a:t>路由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用 RLS 训练路由器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根据输入特征 f(x) 选择正确的 LoRA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score = f(x) @ W_router，argmax 选 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892040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E87A2B"/>
                </a:solidFill>
                <a:latin typeface="微软雅黑"/>
                <a:ea typeface="微软雅黑"/>
                <a:cs typeface="微软雅黑"/>
              </a:rPr>
              <a:t>RLS 的三大优势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递归更新，免回放旧数据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顺序训练 ≡ 联合训练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理论零遗忘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6.3  典型方案：Any-SSR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80160"/>
            <a:ext cx="107899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架构组成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①  底层冻结，提取共享特征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②  上层每任务独立 LoRA 子空间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③  RLS 路由器：score = f(x) @ W_router，argmax 选 LoRA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④  路由器只更新自身参数，不更新大模型权重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160520"/>
            <a:ext cx="10789920" cy="678307"/>
          </a:xfrm>
          <a:prstGeom prst="roundRect">
            <a:avLst>
              <a:gd name="adj" fmla="val 6000"/>
            </a:avLst>
          </a:prstGeom>
          <a:solidFill>
            <a:srgbClr val="FC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9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效果：路由准确率 ≈ 100%   ·   旧任务保留近完美性能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6.4  RLS 路由器核心更新（极简版）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10789920" cy="2194560"/>
          </a:xfrm>
          <a:prstGeom prst="roundRect">
            <a:avLst>
              <a:gd name="adj" fmla="val 3500"/>
            </a:avLst>
          </a:prstGeom>
          <a:solidFill>
            <a:srgbClr val="1E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18872" bIns="11887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e = target - f.T @ W                       # 新息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k = P @ f / (lam + f.T @ P @ f)            # 增益向量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W = W + k @ e                              # 参数更新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P = (P - k @ f.T @ P) / lam                # 协方差更新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P = (P + P.T) / 2                          # 强制对称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767328"/>
            <a:ext cx="107899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1">
                <a:solidFill>
                  <a:srgbClr val="2E86AB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：冻结特征向量（backbone 输出）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1">
                <a:solidFill>
                  <a:srgbClr val="2E86AB"/>
                </a:solidFill>
                <a:latin typeface="Cambria Math"/>
                <a:ea typeface="Cambria Math"/>
                <a:cs typeface="Cambria Math"/>
              </a:rPr>
              <a:t>W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：路由器权重矩阵（feat_dim × n_tasks）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1">
                <a:solidFill>
                  <a:srgbClr val="2E86AB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：协方差矩阵，表示路由参数不确定性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1">
                <a:solidFill>
                  <a:srgbClr val="2E86AB"/>
                </a:solidFill>
                <a:latin typeface="Cambria Math"/>
                <a:ea typeface="Cambria Math"/>
                <a:cs typeface="Cambria Math"/>
              </a:rPr>
              <a:t>λ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：遗忘因子，增量微调中常取 0.99 ~ 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6.5  注意事项与一句话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899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注意事项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不要随意 inv，用 solve / lstsq / Cholesky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P 强制对称，λ 取 0.99 ~ 1.0，加 jitter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高维特征先降维，或用对角 / 低秩 RLS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监控 P 的条件数，异常时重置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路由目标建议用 one-hot，配合特征归一化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434840"/>
            <a:ext cx="10789920" cy="1145032"/>
          </a:xfrm>
          <a:prstGeom prst="roundRect">
            <a:avLst>
              <a:gd name="adj" fmla="val 6000"/>
            </a:avLst>
          </a:prstGeom>
          <a:solidFill>
            <a:srgbClr val="FC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RLS 在增量微调中做免回放路由器：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任务子空间隔离  +  顺序学习不遗忘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9659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200" b="1">
                <a:solidFill>
                  <a:srgbClr val="E87A2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2487168"/>
            <a:ext cx="50292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2487168"/>
            <a:ext cx="7863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Python 代码示例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493008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BFD6E8"/>
                </a:solidFill>
                <a:latin typeface="微软雅黑"/>
                <a:ea typeface="微软雅黑"/>
                <a:cs typeface="微软雅黑"/>
              </a:rPr>
              <a:t>RLS 类  ·  大模型增量微调模拟  ·  RLS 路由器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7.1  RLS 类核心代码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34440"/>
            <a:ext cx="10789920" cy="5024627"/>
          </a:xfrm>
          <a:prstGeom prst="roundRect">
            <a:avLst>
              <a:gd name="adj" fmla="val 3500"/>
            </a:avLst>
          </a:prstGeom>
          <a:solidFill>
            <a:srgbClr val="1E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18872" bIns="11887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class RLS: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def __init__(self, n, lam=0.99, delta=1e3):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self.w = np.zeros((n, 1))          # 滤波器系数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self.P = delta * np.eye(n)         # 协方差矩阵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self.lam = lam                     # 遗忘因子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def update(self, x, d):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x = np.asarray(x, dtype=float).reshape(-1, 1)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d = float(np.asarray(d).item())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e   = d - (x.T @ self.w).item()                 # 新息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den = self.lam + (x.T @ self.P @ x).item()      # 标量分母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k   = (self.P @ x) / den                        # 增益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self.w = self.w + k * e                         # 参数更新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self.P = (self.P - k @ x.T @ self.P) / self.lam # 协方差更新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self.P = (self.P + self.P.T) / 2                # 强制对称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return self.w.ravel().copy(),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7.2  大模型增量微调模拟：整体结构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34440"/>
            <a:ext cx="1078992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E86AB"/>
                </a:solidFill>
                <a:latin typeface="微软雅黑"/>
                <a:ea typeface="微软雅黑"/>
                <a:cs typeface="微软雅黑"/>
              </a:rPr>
              <a:t>①  FrozenBackbone（模拟冻结的大模型底层）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   输入 in_dim → 隐藏层 → 输出 feat_dim 特征，参数全部冻结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E86AB"/>
                </a:solidFill>
                <a:latin typeface="微软雅黑"/>
                <a:ea typeface="微软雅黑"/>
                <a:cs typeface="微软雅黑"/>
              </a:rPr>
              <a:t>②  TaskHead（模拟 LoRA 模块）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   每个任务一个独立线性头，只训练自己的参数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E86AB"/>
                </a:solidFill>
                <a:latin typeface="微软雅黑"/>
                <a:ea typeface="微软雅黑"/>
                <a:cs typeface="微软雅黑"/>
              </a:rPr>
              <a:t>③  RLSRouter（任务路由器）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   输入冻结特征 f，输出任务选择；参数由 RLS 递推更新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E86AB"/>
                </a:solidFill>
                <a:latin typeface="微软雅黑"/>
                <a:ea typeface="微软雅黑"/>
                <a:cs typeface="微软雅黑"/>
              </a:rPr>
              <a:t>④  顺序增量训练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   依次训练任务 0 → 1 → 2 → …，训练新任务时不访问旧任务数据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7.3  RLS 路由器核心代码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34440"/>
            <a:ext cx="10789920" cy="4800600"/>
          </a:xfrm>
          <a:prstGeom prst="roundRect">
            <a:avLst>
              <a:gd name="adj" fmla="val 3500"/>
            </a:avLst>
          </a:prstGeom>
          <a:solidFill>
            <a:srgbClr val="1E2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18872" bIns="11887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class RLSRouter: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def __init__(self, feat_dim, n_tasks, lam=1.0, delta=1e3):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self.W   = np.zeros((feat_dim, n_tasks))   # 路由器权重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self.P   = delta * np.eye(feat_dim)        # 协方差矩阵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self.lam = lam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def update(self, f, target):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f      = f.reshape(-1, 1)          # 列向量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target = target.reshape(1, -1)     # 行向量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den  = self.lam + float(f.T @ self.P @ f)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k    = (self.P @ f) / den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pred = f.T @ self.W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self.W = self.W + k @ (target - pred)          # 外积更新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self.P = (self.P - k @ f.T @ self.P) / self.lam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self.P = (self.P + self.P.T) / 2               # 强制对称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def predict(self, f):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DCE3EA"/>
                </a:solidFill>
                <a:latin typeface="Consolas"/>
                <a:ea typeface="Consolas"/>
                <a:cs typeface="Consolas"/>
              </a:rPr>
              <a:t>        return np.argmax(f @ self.W, axis=-1)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7.4  运行结果示意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463040"/>
          <a:ext cx="73152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</a:t>
                      </a:r>
                    </a:p>
                  </a:txBody>
                  <a:tcPr marL="91440" marR="9144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路由准确率</a:t>
                      </a:r>
                    </a:p>
                  </a:txBody>
                  <a:tcPr marL="91440" marR="9144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MSE</a:t>
                      </a:r>
                    </a:p>
                  </a:txBody>
                  <a:tcPr marL="91440" marR="91440" marT="18288" marB="18288" anchor="ctr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99.50%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0.0123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1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100.00%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0.0098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99.00%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0.0156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整体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0.0126</a:t>
                      </a:r>
                    </a:p>
                  </a:txBody>
                  <a:tcPr marL="91440" marR="91440" marT="18288" marB="18288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" y="4114800"/>
            <a:ext cx="107899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关键点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路由器只更新自身参数，不更新大模型权重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顺序训练时不访问旧任务数据，实现免回放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旧任务性能不下降，理论零遗忘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真实场景：FrozenBackbone → 冻结 Transformer 底层，TaskHead → 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9659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200" b="1">
                <a:solidFill>
                  <a:srgbClr val="E87A2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2487168"/>
            <a:ext cx="50292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2487168"/>
            <a:ext cx="7863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总结与核心公式速查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493008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BFD6E8"/>
                </a:solidFill>
                <a:latin typeface="微软雅黑"/>
                <a:ea typeface="微软雅黑"/>
                <a:cs typeface="微软雅黑"/>
              </a:rPr>
              <a:t>RLS = 在线最小化加权误差平方和 + 指数遗忘 + 递推矩阵逆 + 新息修正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8.1  核心公式速查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00200"/>
            <a:ext cx="10789920" cy="194513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9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增益：      k(n) = P(n−1)x(n) / ( λ + xᵀ(n)P(n−1)x(n) )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9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参数更新：  w(n) = w(n−1) + k(n)[ d(n) − xᵀ(n)w(n−1) ]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9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协方差更新：P(n) = (1/λ)[ P(n−1) − k(n)xᵀ(n)P(n−1) ]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9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初始化：    w(0) = 0,    P(0) = δ·I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8.2  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80160"/>
            <a:ext cx="107899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RLS 核心思想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在每个时刻最小化加权误差平方和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用遗忘因子 λ 对历史数据指数加权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通过增益向量 k(n) 按新息修正滤波器系数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通过协方差矩阵 P(n) 表示参数不确定性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•  递推更新，避免每次重新求矩阵逆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572000"/>
            <a:ext cx="10789920" cy="1100582"/>
          </a:xfrm>
          <a:prstGeom prst="roundRect">
            <a:avLst>
              <a:gd name="adj" fmla="val 6000"/>
            </a:avLst>
          </a:prstGeom>
          <a:solidFill>
            <a:srgbClr val="FC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9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RLS = 在线最小化加权误差平方和  +  指数遗忘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9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          +  递推矩阵逆  +  新息修正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附录 A：矩阵求逆引理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34440"/>
            <a:ext cx="107899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设：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5A5A5A"/>
                </a:solidFill>
                <a:latin typeface="Cambria Math"/>
                <a:ea typeface="Cambria Math"/>
                <a:cs typeface="Cambria Math"/>
              </a:rPr>
              <a:t>A ∈ ℝⁿˣⁿ，C ∈ ℝᵐˣᵐ 可逆，B ∈ ℝⁿˣᵐ，D ∈ ℝᵐˣⁿ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且 A + BCD 与 C⁻¹ + DA⁻¹B 均可逆，则：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606040"/>
            <a:ext cx="10789920" cy="722757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1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(A + BCD)⁻¹  =  A⁻¹ − A⁻¹B (C⁻¹ + DA⁻¹B)⁻¹ DA⁻¹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931920"/>
            <a:ext cx="107899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该引理又名：Sherman–Morrison–Woodbury 公式。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RLS 用它把「每次求 O(N³) 的矩阵逆」变成「O(N²) 的递推更新」。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附录 B：分块矩阵证明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70432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构造分块矩阵：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00200"/>
            <a:ext cx="10789920" cy="70053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0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M = [ A  B ; −D  C⁻¹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287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① 第一种消元：左乘 [ I 0 ; DA⁻¹ I ]，得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821940"/>
            <a:ext cx="10789920" cy="56718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[ A  B ; 0  C⁻¹ + DA⁻¹B ]    ⟹  (1,1) 块 = A⁻¹ − A⁻¹B S⁻¹ DA⁻¹，S = C⁻¹ + DA⁻¹B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1713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② 第二种消元：左乘 L = [ I −BC ; 0 I ]，得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910330"/>
            <a:ext cx="10789920" cy="56718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LM = [ A + BCD  0 ; −D  C⁻¹ ]    ⟹  (1,1) 块 = (A + BCD)⁻¹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63296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87A2B"/>
                </a:solidFill>
                <a:latin typeface="微软雅黑"/>
                <a:ea typeface="微软雅黑"/>
                <a:cs typeface="微软雅黑"/>
              </a:rPr>
              <a:t>两者相等，引理得证。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29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"/>
            <a:ext cx="1106424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附录 C：在 RLS 中的应用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71600"/>
            <a:ext cx="10789920" cy="1100582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9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取  A = λ·R(n−1),   B = x(n),   C = 1,   D = xᵀ(n)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9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则  A⁻¹ = (1/λ)·P(n−1)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60019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代入引理：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039110"/>
            <a:ext cx="10789920" cy="611632"/>
          </a:xfrm>
          <a:prstGeom prst="roundRect">
            <a:avLst>
              <a:gd name="adj" fmla="val 6000"/>
            </a:avLst>
          </a:prstGeom>
          <a:solidFill>
            <a:srgbClr val="FC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73152" b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>
                <a:solidFill>
                  <a:srgbClr val="2B2B2B"/>
                </a:solidFill>
                <a:latin typeface="Cambria Math"/>
                <a:ea typeface="Cambria Math"/>
                <a:cs typeface="Cambria Math"/>
              </a:rPr>
              <a:t>P(n) = (1/λ) [ P(n−1) − P(n−1)x(n)xᵀ(n)P(n−1) / (λ + xᵀ(n)P(n−1)x(n))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806189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这正是 RLS 协方差矩阵的递推公式，也是算法能够在 O(N²) 复杂度下在线运行的关键。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1908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6B2"/>
                </a:solidFill>
                <a:latin typeface="微软雅黑"/>
                <a:ea typeface="微软雅黑"/>
                <a:cs typeface="微软雅黑"/>
              </a:rPr>
              <a:t>RLS 递推最小二乘及工程应用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6B2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  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>
                <a:solidFill>
                  <a:srgbClr val="BFD6E8"/>
                </a:solidFill>
                <a:latin typeface="微软雅黑"/>
                <a:ea typeface="微软雅黑"/>
                <a:cs typeface="微软雅黑"/>
              </a:rPr>
              <a:t>RLS：递推最小二乘</a:t>
            </a:r>
          </a:p>
          <a:p>
            <a:pPr algn="ctr">
              <a:spcAft>
                <a:spcPts val="400"/>
              </a:spcAft>
            </a:pPr>
            <a:r>
              <a:rPr sz="1700">
                <a:solidFill>
                  <a:srgbClr val="BFD6E8"/>
                </a:solidFill>
                <a:latin typeface="微软雅黑"/>
                <a:ea typeface="微软雅黑"/>
                <a:cs typeface="微软雅黑"/>
              </a:rPr>
              <a:t>从自适应滤波到大模型增量微调</a:t>
            </a:r>
          </a:p>
          <a:p>
            <a:pPr algn="ctr">
              <a:spcAft>
                <a:spcPts val="400"/>
              </a:spcAft>
            </a:pPr>
            <a:r>
              <a:rPr sz="1700">
                <a:solidFill>
                  <a:srgbClr val="BFD6E8"/>
                </a:solidFill>
                <a:latin typeface="微软雅黑"/>
                <a:ea typeface="微软雅黑"/>
                <a:cs typeface="微软雅黑"/>
              </a:rPr>
              <a:t>免回放、零遗忘的路由选择方案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