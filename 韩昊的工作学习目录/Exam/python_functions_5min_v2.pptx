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开场：今天用5分钟，学会函数核心用法。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先给路线图。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函数 = 可重复使用的代码块。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互动：不写 greet() 会输出吗？不会。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重点区分 print 和 return。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互动：add(3) 输出什么？答案：4。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体重除以身高的平方。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快速提醒，避免踩坑。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留 30 秒让学生写，然后展示答案。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回顾四件事：定义、参数、返回、调用。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Python 函数：5分钟入门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定义 / 调用 / 参数 / 返回值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今天学什么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什么是函数</a:t>
            </a:r>
          </a:p>
          <a:p>
            <a:pPr>
              <a:defRPr sz="1800"/>
            </a:pPr>
            <a:r>
              <a:t>用 def 定义、调用</a:t>
            </a:r>
          </a:p>
          <a:p>
            <a:pPr>
              <a:defRPr sz="1800"/>
            </a:pPr>
            <a:r>
              <a:t>参数和 return</a:t>
            </a:r>
          </a:p>
          <a:p>
            <a:pPr>
              <a:defRPr sz="1800"/>
            </a:pPr>
            <a:r>
              <a:t>默认参数与关键字参数</a:t>
            </a:r>
          </a:p>
          <a:p>
            <a:pPr>
              <a:defRPr sz="1800"/>
            </a:pPr>
            <a:r>
              <a:t>一个小练习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函数是什么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给一段代码起个名字</a:t>
            </a:r>
          </a:p>
          <a:p>
            <a:pPr>
              <a:defRPr sz="1800"/>
            </a:pPr>
            <a:r>
              <a:t>可重复使用，不用复制粘贴</a:t>
            </a:r>
          </a:p>
          <a:p>
            <a:pPr>
              <a:defRPr sz="1800"/>
            </a:pPr>
            <a:r>
              <a:t>输入：参数</a:t>
            </a:r>
          </a:p>
          <a:p>
            <a:pPr>
              <a:defRPr sz="1800"/>
            </a:pPr>
            <a:r>
              <a:t>输出：返回值</a:t>
            </a:r>
          </a:p>
          <a:p>
            <a:pPr>
              <a:defRPr sz="1800"/>
            </a:pPr>
            <a:r>
              <a:t>比喻：料理机：放原料，按按钮，出结果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定义与调用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def：定义函数</a:t>
            </a:r>
          </a:p>
          <a:p>
            <a:pPr>
              <a:defRPr sz="1800"/>
            </a:pPr>
            <a:r>
              <a:t>()：参数列表</a:t>
            </a:r>
          </a:p>
          <a:p>
            <a:pPr>
              <a:defRPr sz="1800"/>
            </a:pPr>
            <a:r>
              <a:t>定义函数不会执行，调用才执行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def greet():</a:t>
            </a:r>
          </a:p>
          <a:p>
            <a:pPr>
              <a:defRPr sz="1400">
                <a:latin typeface="Consolas"/>
              </a:defRPr>
            </a:pPr>
            <a:r>
              <a:t>    print("你好，Python!")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greet()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参数与返回值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name 是参数，也就是输入</a:t>
            </a:r>
          </a:p>
          <a:p>
            <a:pPr>
              <a:defRPr sz="1800"/>
            </a:pPr>
            <a:r>
              <a:t>return 返回结果</a:t>
            </a:r>
          </a:p>
          <a:p>
            <a:pPr>
              <a:defRPr sz="1800"/>
            </a:pPr>
            <a:r>
              <a:t>没有 return，默认返回 None</a:t>
            </a:r>
          </a:p>
          <a:p>
            <a:pPr>
              <a:defRPr sz="1800"/>
            </a:pPr>
            <a:r>
              <a:t>print 只是打印，return 才是把结果交出去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def greet(name):</a:t>
            </a:r>
          </a:p>
          <a:p>
            <a:pPr>
              <a:defRPr sz="1400">
                <a:latin typeface="Consolas"/>
              </a:defRPr>
            </a:pPr>
            <a:r>
              <a:t>    return f"你好，{name}！"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msg = greet("小明")</a:t>
            </a:r>
          </a:p>
          <a:p>
            <a:pPr>
              <a:defRPr sz="1400">
                <a:latin typeface="Consolas"/>
              </a:defRPr>
            </a:pPr>
            <a:r>
              <a:t>print(msg)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默认参数与关键字参数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b=1 是默认参数</a:t>
            </a:r>
          </a:p>
          <a:p>
            <a:pPr>
              <a:defRPr sz="1800"/>
            </a:pPr>
            <a:r>
              <a:t>默认参数要放在普通参数后面</a:t>
            </a:r>
          </a:p>
          <a:p>
            <a:pPr>
              <a:defRPr sz="1800"/>
            </a:pPr>
            <a:r>
              <a:t>a=3, b=5 是关键字参数，代码更清楚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def add(a, b=1):</a:t>
            </a:r>
          </a:p>
          <a:p>
            <a:pPr>
              <a:defRPr sz="1400">
                <a:latin typeface="Consolas"/>
              </a:defRPr>
            </a:pPr>
            <a:r>
              <a:t>    return a + b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print(add(3))          # 4</a:t>
            </a:r>
          </a:p>
          <a:p>
            <a:pPr>
              <a:defRPr sz="1400">
                <a:latin typeface="Consolas"/>
              </a:defRPr>
            </a:pPr>
            <a:r>
              <a:t>print(add(3, 5))       # 8</a:t>
            </a:r>
          </a:p>
          <a:p>
            <a:pPr>
              <a:defRPr sz="1400">
                <a:latin typeface="Consolas"/>
              </a:defRPr>
            </a:pPr>
            <a:r>
              <a:t>print(add(a=3, b=5))   #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综合示例：BMI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第一次：位置参数</a:t>
            </a:r>
          </a:p>
          <a:p>
            <a:pPr>
              <a:defRPr sz="1800"/>
            </a:pPr>
            <a:r>
              <a:t>第二次：关键字参数</a:t>
            </a:r>
          </a:p>
          <a:p>
            <a:pPr>
              <a:defRPr sz="1800"/>
            </a:pPr>
            <a:r>
              <a:t>两个输出一样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def bmi(weight, height):</a:t>
            </a:r>
          </a:p>
          <a:p>
            <a:pPr>
              <a:defRPr sz="1400">
                <a:latin typeface="Consolas"/>
              </a:defRPr>
            </a:pPr>
            <a:r>
              <a:t>    return weight / (height ** 2)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print(bmi(70, 1.75))</a:t>
            </a:r>
          </a:p>
          <a:p>
            <a:pPr>
              <a:defRPr sz="1400">
                <a:latin typeface="Consolas"/>
              </a:defRPr>
            </a:pPr>
            <a:r>
              <a:t>print(bmi(height=1.75, weight=70))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忘记调用函数</a:t>
            </a:r>
          </a:p>
          <a:p>
            <a:pPr>
              <a:defRPr sz="1800"/>
            </a:pPr>
            <a:r>
              <a:t>缩进错误</a:t>
            </a:r>
          </a:p>
          <a:p>
            <a:pPr>
              <a:defRPr sz="1800"/>
            </a:pPr>
            <a:r>
              <a:t>参数数量不匹配</a:t>
            </a:r>
          </a:p>
          <a:p>
            <a:pPr>
              <a:defRPr sz="1800"/>
            </a:pPr>
            <a:r>
              <a:t>把 return 写成 print</a:t>
            </a:r>
          </a:p>
          <a:p>
            <a:pPr>
              <a:defRPr sz="1800"/>
            </a:pPr>
            <a:r>
              <a:t>默认参数没放后面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课堂练习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写一个函数 is_even(n)，判断 n 是否是偶数，返回 True 或 False。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nsolas"/>
              </a:defRPr>
            </a:pPr>
            <a:r>
              <a:t>def is_even(n):</a:t>
            </a:r>
          </a:p>
          <a:p>
            <a:pPr>
              <a:defRPr sz="1400">
                <a:latin typeface="Consolas"/>
              </a:defRPr>
            </a:pPr>
            <a:r>
              <a:t>    return n % 2 == 0</a:t>
            </a:r>
          </a:p>
          <a:p>
            <a:pPr>
              <a:defRPr sz="1400">
                <a:latin typeface="Consolas"/>
              </a:defRPr>
            </a:pPr>
          </a:p>
          <a:p>
            <a:pPr>
              <a:defRPr sz="1400">
                <a:latin typeface="Consolas"/>
              </a:defRPr>
            </a:pPr>
            <a:r>
              <a:t>print(is_even(4))  # True</a:t>
            </a:r>
          </a:p>
          <a:p>
            <a:pPr>
              <a:defRPr sz="1400">
                <a:latin typeface="Consolas"/>
              </a:defRPr>
            </a:pPr>
            <a:r>
              <a:t>print(is_even(5))  # False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def 定义函数</a:t>
            </a:r>
          </a:p>
          <a:p>
            <a:pPr>
              <a:defRPr sz="1800"/>
            </a:pPr>
            <a:r>
              <a:t>参数是输入</a:t>
            </a:r>
          </a:p>
          <a:p>
            <a:pPr>
              <a:defRPr sz="1800"/>
            </a:pPr>
            <a:r>
              <a:t>return 是输出</a:t>
            </a:r>
          </a:p>
          <a:p>
            <a:pPr>
              <a:defRPr sz="1800"/>
            </a:pPr>
            <a:r>
              <a:t>调用函数才会执行</a:t>
            </a:r>
          </a:p>
          <a:p>
            <a:pPr>
              <a:defRPr sz="1800"/>
            </a:pPr>
            <a:r>
              <a:t>默认参数、关键字参数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